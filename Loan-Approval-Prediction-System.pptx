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28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73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8477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Loan Approval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83346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IBM SPSS Modeler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869629"/>
            <a:ext cx="1832149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2916882"/>
            <a:ext cx="16525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 PROJECT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33050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 Names · Aditya Pratap Singh, Dipti Narware, Naman Patidar ·       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II - Year , IV - Semester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6324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Introduction &amp; 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66181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Loan approval prediction uses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automate credit decisions — reducing risk and processing time for banks.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274912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06069" y="2274912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4143077" y="2435721"/>
            <a:ext cx="2327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Systems Are Flawed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43077" y="2742233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Human-driven reviews are slow, inconsistent, and prone to bias — causing delays and financial losses.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25119" y="3498428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06069" y="3498428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4143077" y="3659237"/>
            <a:ext cx="24418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Automation Is the Answer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43077" y="3965749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Classification algorithms analyze applicant data objectively, delivering faster, more accurate, and scalable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234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Objectives &amp; Dataset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17936"/>
            <a:ext cx="4107135" cy="2163217"/>
          </a:xfrm>
          <a:prstGeom prst="roundRect">
            <a:avLst>
              <a:gd name="adj" fmla="val 9437"/>
            </a:avLst>
          </a:prstGeom>
          <a:solidFill>
            <a:srgbClr val="84C1F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9596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22909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loan approval status (Approved / Rejected)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Compare ML algorithms for best accuracy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decision-making speed and consistency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3230017"/>
            <a:ext cx="38236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Source: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Kaggle Loan Prediction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9596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Dataset 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322909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&amp;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Marital Status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Demographics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Education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Graduate / Not Graduate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ApplicantIncome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&amp;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LoanAmount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Financials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Credit_History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Key risk indicator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Property_Area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Urban / Semiurban / Rural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Loan_Status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Target variable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99514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 &amp;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45434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74489" y="1732062"/>
            <a:ext cx="1834828" cy="1083618"/>
          </a:xfrm>
          <a:prstGeom prst="roundRect">
            <a:avLst>
              <a:gd name="adj" fmla="val 9383"/>
            </a:avLst>
          </a:prstGeom>
          <a:solidFill>
            <a:srgbClr val="CEE6FD"/>
          </a:solidFill>
          <a:ln/>
        </p:spPr>
      </p:sp>
      <p:sp>
        <p:nvSpPr>
          <p:cNvPr id="5" name="Shape 3"/>
          <p:cNvSpPr/>
          <p:nvPr/>
        </p:nvSpPr>
        <p:spPr>
          <a:xfrm>
            <a:off x="787450" y="1845022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84C1F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616" y="1938189"/>
            <a:ext cx="152474" cy="152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450" y="227387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IBM SPSS Modeler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7450" y="2540347"/>
            <a:ext cx="16089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ML platform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599283" y="1732062"/>
            <a:ext cx="1834828" cy="1083618"/>
          </a:xfrm>
          <a:prstGeom prst="roundRect">
            <a:avLst>
              <a:gd name="adj" fmla="val 9383"/>
            </a:avLst>
          </a:prstGeom>
          <a:solidFill>
            <a:srgbClr val="CEE6FD"/>
          </a:solidFill>
          <a:ln/>
        </p:spPr>
      </p:sp>
      <p:sp>
        <p:nvSpPr>
          <p:cNvPr id="10" name="Shape 7"/>
          <p:cNvSpPr/>
          <p:nvPr/>
        </p:nvSpPr>
        <p:spPr>
          <a:xfrm>
            <a:off x="2712244" y="1845022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84C1F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5410" y="1938189"/>
            <a:ext cx="152474" cy="1524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12244" y="227387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712244" y="2540347"/>
            <a:ext cx="16089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Supervised classification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74489" y="2905646"/>
            <a:ext cx="1834828" cy="1260128"/>
          </a:xfrm>
          <a:prstGeom prst="roundRect">
            <a:avLst>
              <a:gd name="adj" fmla="val 8069"/>
            </a:avLst>
          </a:prstGeom>
          <a:solidFill>
            <a:srgbClr val="CEE6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87450" y="3018606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84C1F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16" y="3111773"/>
            <a:ext cx="152474" cy="1524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7450" y="344745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87450" y="3713931"/>
            <a:ext cx="16089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Cleaning &amp; transformation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2599283" y="2905646"/>
            <a:ext cx="1834828" cy="1260128"/>
          </a:xfrm>
          <a:prstGeom prst="roundRect">
            <a:avLst>
              <a:gd name="adj" fmla="val 8069"/>
            </a:avLst>
          </a:prstGeom>
          <a:solidFill>
            <a:srgbClr val="CEE6FD"/>
          </a:solidFill>
          <a:ln/>
        </p:spPr>
      </p:sp>
      <p:sp>
        <p:nvSpPr>
          <p:cNvPr id="20" name="Shape 15"/>
          <p:cNvSpPr/>
          <p:nvPr/>
        </p:nvSpPr>
        <p:spPr>
          <a:xfrm>
            <a:off x="2712244" y="3018606"/>
            <a:ext cx="338882" cy="338882"/>
          </a:xfrm>
          <a:prstGeom prst="roundRect">
            <a:avLst>
              <a:gd name="adj" fmla="val 16862591"/>
            </a:avLst>
          </a:prstGeom>
          <a:solidFill>
            <a:srgbClr val="84C1F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5410" y="3111773"/>
            <a:ext cx="152474" cy="1524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12244" y="3447455"/>
            <a:ext cx="1608906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Classification Algorithms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712244" y="3890442"/>
            <a:ext cx="16089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 Regression &amp; C5.0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00273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88379" y="1042392"/>
            <a:ext cx="4738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Clean, structured data is the foundation of reliable ML models. SPSS Modeler automates key preprocessing steps.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379" y="1639788"/>
            <a:ext cx="279053" cy="2790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9105" y="168771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Audit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939105" y="1988121"/>
            <a:ext cx="4287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Identify data types, distributions, and anomalies across all fields.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379" y="2484313"/>
            <a:ext cx="279053" cy="2790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9105" y="2532236"/>
            <a:ext cx="190812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Missing Value Handling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939105" y="2832646"/>
            <a:ext cx="4287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Impute gaps using mean, median, or mode based on field type.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379" y="3328839"/>
            <a:ext cx="279053" cy="2790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9105" y="3376761"/>
            <a:ext cx="182426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 Data Preparation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939105" y="3677171"/>
            <a:ext cx="4287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Auto-detects and applies transformations for model readiness.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379" y="4173364"/>
            <a:ext cx="279053" cy="27905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9105" y="422128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939105" y="4521696"/>
            <a:ext cx="42875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Encode categoricals, normalize numerics, and prepare inputs.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9316"/>
            <a:ext cx="43671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 Regression Model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66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It Works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99878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 Regression is a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 classification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algorithm that estimates the probability of loan approval using the sigmoid function: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59732"/>
            <a:ext cx="3902943" cy="40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859732"/>
            <a:ext cx="3902943" cy="4034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442618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 ranges between 0 (Rejected) and 1 (Approved)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Trained on preprocessed applicant data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Interpretable coefficients for each feature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49701" y="16366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Performance Results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749701" y="2017588"/>
            <a:ext cx="1880592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0651" y="2017588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4967660" y="2178397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Training Accuracy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67660" y="2541612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80.75%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on training partition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72052" y="2017588"/>
            <a:ext cx="1880592" cy="1138461"/>
          </a:xfrm>
          <a:prstGeom prst="roundRect">
            <a:avLst>
              <a:gd name="adj" fmla="val 8032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53002" y="2017588"/>
            <a:ext cx="76200" cy="1138461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5" name="Text 12"/>
          <p:cNvSpPr/>
          <p:nvPr/>
        </p:nvSpPr>
        <p:spPr>
          <a:xfrm>
            <a:off x="6990011" y="2178397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Testing Accuracy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90011" y="2541612"/>
            <a:ext cx="15018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82.45%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on held-out test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49701" y="3315519"/>
            <a:ext cx="3902943" cy="829196"/>
          </a:xfrm>
          <a:prstGeom prst="roundRect">
            <a:avLst>
              <a:gd name="adj" fmla="val 15387"/>
            </a:avLst>
          </a:prstGeom>
          <a:solidFill>
            <a:srgbClr val="B6D6F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530575"/>
            <a:ext cx="177180" cy="1417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0398" y="349269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Testing accuracy exceeds training — indicating good generalization with no overfitting.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401092"/>
            <a:ext cx="4767486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Decision Tree — C5.0 Algorithm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78610" y="97713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C5.0 builds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rule-based, human-readable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classification trees.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Credit_History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emerged as the dominant splitting feature.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78610" y="1499964"/>
            <a:ext cx="4815780" cy="723305"/>
          </a:xfrm>
          <a:prstGeom prst="roundRect">
            <a:avLst>
              <a:gd name="adj" fmla="val 15986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4007048" y="162840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Rule-Based Logic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07048" y="1898898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Generates clear if-then rules explaining every prediction.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78610" y="2339653"/>
            <a:ext cx="4815780" cy="723305"/>
          </a:xfrm>
          <a:prstGeom prst="roundRect">
            <a:avLst>
              <a:gd name="adj" fmla="val 15986"/>
            </a:avLst>
          </a:prstGeom>
          <a:solidFill>
            <a:srgbClr val="CEE6FD"/>
          </a:solidFill>
          <a:ln/>
        </p:spPr>
      </p:sp>
      <p:sp>
        <p:nvSpPr>
          <p:cNvPr id="9" name="Text 6"/>
          <p:cNvSpPr/>
          <p:nvPr/>
        </p:nvSpPr>
        <p:spPr>
          <a:xfrm>
            <a:off x="4007048" y="2468091"/>
            <a:ext cx="20617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Top Feature: Credit_History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07048" y="2738586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Strongest predictor — clean history greatly increases approval odds.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78610" y="3179341"/>
            <a:ext cx="4815780" cy="723305"/>
          </a:xfrm>
          <a:prstGeom prst="roundRect">
            <a:avLst>
              <a:gd name="adj" fmla="val 15986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4007048" y="330777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Training Accuracy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07048" y="3578275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80.05%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training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78610" y="4019029"/>
            <a:ext cx="4815780" cy="723305"/>
          </a:xfrm>
          <a:prstGeom prst="roundRect">
            <a:avLst>
              <a:gd name="adj" fmla="val 15986"/>
            </a:avLst>
          </a:prstGeom>
          <a:solidFill>
            <a:srgbClr val="CEE6FD"/>
          </a:solidFill>
          <a:ln/>
        </p:spPr>
      </p:sp>
      <p:sp>
        <p:nvSpPr>
          <p:cNvPr id="15" name="Text 12"/>
          <p:cNvSpPr/>
          <p:nvPr/>
        </p:nvSpPr>
        <p:spPr>
          <a:xfrm>
            <a:off x="4007048" y="4147468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Testing Accuracy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007048" y="4417963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82.98%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test data —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Best Overall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44996"/>
            <a:ext cx="443857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Comparison &amp; Results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57349" y="1169566"/>
            <a:ext cx="710952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86" y="1192411"/>
            <a:ext cx="57150" cy="57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886" y="1183853"/>
            <a:ext cx="568077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1E306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Training Accuracy (%)</a:t>
            </a:r>
            <a:endParaRPr lang="en-US" sz="450" dirty="0"/>
          </a:p>
        </p:txBody>
      </p:sp>
      <p:sp>
        <p:nvSpPr>
          <p:cNvPr id="6" name="Shape 3"/>
          <p:cNvSpPr/>
          <p:nvPr/>
        </p:nvSpPr>
        <p:spPr>
          <a:xfrm>
            <a:off x="1206401" y="1169566"/>
            <a:ext cx="68542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738" y="1192411"/>
            <a:ext cx="57150" cy="57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15938" y="1183853"/>
            <a:ext cx="54255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1E306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Testing Accuracy (%)</a:t>
            </a:r>
            <a:endParaRPr lang="en-US" sz="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49" y="1320031"/>
            <a:ext cx="3955256" cy="19800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5014" y="1598505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80.8</a:t>
            </a:r>
            <a:endParaRPr lang="en-US" sz="400" dirty="0"/>
          </a:p>
        </p:txBody>
      </p:sp>
      <p:sp>
        <p:nvSpPr>
          <p:cNvPr id="11" name="Text 6"/>
          <p:cNvSpPr/>
          <p:nvPr/>
        </p:nvSpPr>
        <p:spPr>
          <a:xfrm>
            <a:off x="1709309" y="156702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82.5</a:t>
            </a:r>
            <a:endParaRPr lang="en-US" sz="400" dirty="0"/>
          </a:p>
        </p:txBody>
      </p:sp>
      <p:sp>
        <p:nvSpPr>
          <p:cNvPr id="12" name="Text 7"/>
          <p:cNvSpPr/>
          <p:nvPr/>
        </p:nvSpPr>
        <p:spPr>
          <a:xfrm>
            <a:off x="2982870" y="1611470"/>
            <a:ext cx="132531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80.1</a:t>
            </a:r>
            <a:endParaRPr lang="en-US" sz="400" dirty="0"/>
          </a:p>
        </p:txBody>
      </p:sp>
      <p:sp>
        <p:nvSpPr>
          <p:cNvPr id="13" name="Text 8"/>
          <p:cNvSpPr/>
          <p:nvPr/>
        </p:nvSpPr>
        <p:spPr>
          <a:xfrm>
            <a:off x="3629154" y="1557203"/>
            <a:ext cx="88553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83</a:t>
            </a:r>
            <a:endParaRPr lang="en-US" sz="400" dirty="0"/>
          </a:p>
        </p:txBody>
      </p:sp>
      <p:sp>
        <p:nvSpPr>
          <p:cNvPr id="14" name="Text 9"/>
          <p:cNvSpPr/>
          <p:nvPr/>
        </p:nvSpPr>
        <p:spPr>
          <a:xfrm>
            <a:off x="4736157" y="115453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736157" y="1494160"/>
            <a:ext cx="3955256" cy="2204665"/>
          </a:xfrm>
          <a:prstGeom prst="roundRect">
            <a:avLst>
              <a:gd name="adj" fmla="val 533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72186" y="1575941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Metric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89464" y="1575941"/>
            <a:ext cx="104879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504361" y="1575941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C5.0 Tree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872186" y="2136428"/>
            <a:ext cx="105117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Training Accuracy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89464" y="2136428"/>
            <a:ext cx="10487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80.75%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04361" y="2136428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80.05%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72186" y="2696914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Testing Accuracy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189464" y="2696914"/>
            <a:ext cx="10487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82.45%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504361" y="2696914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82.98%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872186" y="3056558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Overfitting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89464" y="3056558"/>
            <a:ext cx="10487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504361" y="3056558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72186" y="3416201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189464" y="3416201"/>
            <a:ext cx="104879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504361" y="3416201"/>
            <a:ext cx="105117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36157" y="3834333"/>
            <a:ext cx="3955256" cy="728588"/>
          </a:xfrm>
          <a:prstGeom prst="roundRect">
            <a:avLst>
              <a:gd name="adj" fmla="val 16144"/>
            </a:avLst>
          </a:prstGeom>
          <a:solidFill>
            <a:srgbClr val="B6FCB8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829" y="4030935"/>
            <a:ext cx="163339" cy="130671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60838" y="3987478"/>
            <a:ext cx="339990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C5.0 Decision Tree</a:t>
            </a: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achieved the highest test accuracy at 82.98% — selected as the best-performing model.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224"/>
            <a:ext cx="46127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User Input Prediction Demo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6472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 applicant input fed into the trained C5.0 model for a real-time loan decision.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1551012"/>
            <a:ext cx="4107135" cy="3154189"/>
          </a:xfrm>
          <a:prstGeom prst="roundRect">
            <a:avLst>
              <a:gd name="adj" fmla="val 6472"/>
            </a:avLst>
          </a:prstGeom>
          <a:solidFill>
            <a:srgbClr val="000E21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16927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Applicant Profile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35781" y="2073697"/>
            <a:ext cx="3823618" cy="2472035"/>
          </a:xfrm>
          <a:prstGeom prst="roundRect">
            <a:avLst>
              <a:gd name="adj" fmla="val 516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377" y="2168277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Applicant Income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9386" y="2168277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₹ 58,000 /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2377" y="2579489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Loan Amount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9386" y="2579489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₹ 12,00,000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2377" y="2990701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Credit History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9386" y="2990701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1.0 (Clean)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2377" y="3401913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9386" y="3401913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Graduate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2377" y="3813125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Property Area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9386" y="3813125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Urban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2377" y="4224338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Marital 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89386" y="4224338"/>
            <a:ext cx="16234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Married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9701" y="169277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Prediction Result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49701" y="2073697"/>
            <a:ext cx="3902943" cy="873547"/>
          </a:xfrm>
          <a:prstGeom prst="roundRect">
            <a:avLst>
              <a:gd name="adj" fmla="val 14606"/>
            </a:avLst>
          </a:prstGeom>
          <a:solidFill>
            <a:srgbClr val="CEE6F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1460" y="221545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✅</a:t>
            </a: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Loan Approved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91460" y="2578671"/>
            <a:ext cx="36194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C5.0 model predicts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Approval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 high confidence.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9701" y="310671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factors: clean credit history, stable income, and urban property location.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012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3662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549287" y="136319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6816" y="1385292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ML-Based System Built Successfully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1913260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loan approval pipeline implemented in IBM SPSS Modeler.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2433" y="133662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8" name="Text 6"/>
          <p:cNvSpPr/>
          <p:nvPr/>
        </p:nvSpPr>
        <p:spPr>
          <a:xfrm>
            <a:off x="3325602" y="136319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733130" y="1385292"/>
            <a:ext cx="213843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Multiple Models Compared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33130" y="1913260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 Regression and C5.0 Decision Tree evaluated on identical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48747" y="133662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12" name="Text 10"/>
          <p:cNvSpPr/>
          <p:nvPr/>
        </p:nvSpPr>
        <p:spPr>
          <a:xfrm>
            <a:off x="6101916" y="136319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09445" y="1385292"/>
            <a:ext cx="20170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Accuracy Achieved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09445" y="169180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models exceeded 80%;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C5.0 Decision Tree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led at </a:t>
            </a:r>
            <a:r>
              <a:rPr lang="en-US" sz="11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82.98%</a:t>
            </a: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 accuracy.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2788593"/>
            <a:ext cx="8151763" cy="1056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047181"/>
            <a:ext cx="48909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17" name="Text 15"/>
          <p:cNvSpPr/>
          <p:nvPr/>
        </p:nvSpPr>
        <p:spPr>
          <a:xfrm>
            <a:off x="496119" y="387116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for Questions &amp; Answers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4257452"/>
            <a:ext cx="1272629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936" y="4304705"/>
            <a:ext cx="10929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IBM SPSS MODELER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39590" y="4257452"/>
            <a:ext cx="1306190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9408" y="4304705"/>
            <a:ext cx="11265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16622" y="4257452"/>
            <a:ext cx="1201341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84C1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6440" y="4304705"/>
            <a:ext cx="102170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LOAN PREDICTION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-apple-system, BlinkMacSystemFont, Segoe UI, Roboto, Helvetica Neue, Arial, sans-serif Medium</vt:lpstr>
      <vt:lpstr>Instrument Sans Semi Bold</vt:lpstr>
      <vt:lpstr>Arial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PRATAP</cp:lastModifiedBy>
  <cp:revision>3</cp:revision>
  <dcterms:created xsi:type="dcterms:W3CDTF">2026-05-12T05:19:36Z</dcterms:created>
  <dcterms:modified xsi:type="dcterms:W3CDTF">2026-05-24T08:48:28Z</dcterms:modified>
</cp:coreProperties>
</file>